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33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EE21C58-A8B9-45FD-B767-5941536D745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D8BA762-2501-44F5-ADCB-C1C23F663F3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8DD010C-1CD2-4307-9E2D-54D7920EFD8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818D17E-B622-4E7C-9524-2AC27AA9523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E0290F1-B394-4EF7-8661-9C0A51C7C0A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1141560" y="618480"/>
            <a:ext cx="9905760" cy="685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682FFB-553F-4553-A92F-E78B9625ACD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114156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8A936D0-F240-4995-BB4A-D49803C3536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1720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12B7D72-23A9-4DB4-B6B8-4B4C3F46BA4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1141560" y="4099680"/>
            <a:ext cx="990576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3363939-05F2-46BF-A489-5AA74D364AC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1141560" y="4099680"/>
            <a:ext cx="990576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E8C2ED8-4C71-460B-97F5-EE4846C41AD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114156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1720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FCA29C3-52E0-4F14-A251-5869DD74B98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490640" y="224964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7839720" y="224964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1141560" y="409968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490640" y="409968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7839720" y="409968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C00995-5627-4545-A32F-443192D6910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4BC5C88-E61E-4AF2-A806-006644AD28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C970FEE-0798-4B94-89DD-F22D8B6B1C0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6F970D-BBFF-4573-AF4F-08216A97710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3656E2-7BEE-4CDB-B8EC-B8C768D2B36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4D9AE4-554F-4006-A2DE-F4A8EEEEE69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1141560" y="618480"/>
            <a:ext cx="9905760" cy="685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2974DE-CB86-429C-AF40-747E9CC6C37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114156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114C9C6-0D95-4CC3-AEB2-E7AC7EAFD69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621720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CB29F61-8BA7-4D41-92B5-C6EDFF3777F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1141560" y="4099680"/>
            <a:ext cx="990576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D2DC6F2-4FBF-4218-A28B-C544230D30D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1141560" y="4099680"/>
            <a:ext cx="990576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51D7738-C291-4C37-9055-0F46185402E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114156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6217200" y="4099680"/>
            <a:ext cx="483372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8FBF899-5972-4D0F-9AAE-6675A43A8AB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490640" y="224964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839720" y="224964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1141560" y="409968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490640" y="409968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839720" y="4099680"/>
            <a:ext cx="3189240" cy="168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F9CF50-5478-40F9-88D7-3EEE167E228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\\DROBO-FS\QuickDrops\JB\PPTX NG\Droplets\LightingOverlay.png"/>
          <p:cNvPicPr/>
          <p:nvPr/>
        </p:nvPicPr>
        <p:blipFill>
          <a:blip r:embed="rId15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0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41" name="Picture 2" descr="\\DROBO-FS\QuickDrops\JB\PPTX NG\Droplets\LightingOverlay.png"/>
          <p:cNvPicPr/>
          <p:nvPr/>
        </p:nvPicPr>
        <p:blipFill>
          <a:blip r:embed="rId15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42" name="Group 10"/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43" name="Rectangle 5"/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Freeform 6"/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Rectangle 8"/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Freeform 11"/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Freeform 12"/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3"/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Freeform 14"/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" name="Freeform 15"/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Freeform 16"/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17"/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" name="Freeform 18"/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Freeform 19"/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20"/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" name="Freeform 21"/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" name="Freeform 22"/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" name="Freeform 23"/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" name="Freeform 24"/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Freeform 25"/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" name="Freeform 27"/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" name="Freeform 28"/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" name="Freeform 29"/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" name="Freeform 30"/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Freeform 31"/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Freeform 32"/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Freeform 34"/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Freeform 35"/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" name="Freeform 36"/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Freeform 37"/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" name="Freeform 38"/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Freeform 39"/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Freeform 40"/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" name="Freeform 41"/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Freeform 42"/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Freeform 43"/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Freeform 44"/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Freeform 46"/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Freeform 47"/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Freeform 48"/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Freeform 49"/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" name="Freeform 51"/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" name="Freeform 52"/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" name="Freeform 53"/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" name="Freeform 54"/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" name="Freeform 55"/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" name="Freeform 56"/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Freeform 57"/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" name="Freeform 58"/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4800" b="0" strike="noStrike" cap="all" spc="-1">
                <a:solidFill>
                  <a:srgbClr val="FFFFFF"/>
                </a:solidFill>
                <a:latin typeface="Tw Cen MT"/>
              </a:rPr>
              <a:t>Клацніть, щоб редагувати стиль зразка заголовка</a:t>
            </a:r>
            <a:endParaRPr lang="en-US" sz="4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1"/>
          </p:nvPr>
        </p:nvSpPr>
        <p:spPr>
          <a:xfrm>
            <a:off x="7077600" y="54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uk-UA" sz="1050" b="0" strike="noStrike" spc="-1">
                <a:solidFill>
                  <a:srgbClr val="FFFFFF"/>
                </a:solidFill>
                <a:latin typeface="Tw Cen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uk-UA" sz="1050" b="0" strike="noStrike" spc="-1">
                <a:solidFill>
                  <a:srgbClr val="FFFFFF"/>
                </a:solidFill>
                <a:latin typeface="Tw Cen MT"/>
              </a:rPr>
              <a:t>&lt;дата/время&gt;</a:t>
            </a:r>
            <a:endParaRPr lang="ru-RU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2"/>
          </p:nvPr>
        </p:nvSpPr>
        <p:spPr>
          <a:xfrm>
            <a:off x="1876320" y="5410080"/>
            <a:ext cx="51246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00" name="PlaceHolder 4"/>
          <p:cNvSpPr>
            <a:spLocks noGrp="1"/>
          </p:cNvSpPr>
          <p:nvPr>
            <p:ph type="sldNum" idx="3"/>
          </p:nvPr>
        </p:nvSpPr>
        <p:spPr>
          <a:xfrm>
            <a:off x="9896760" y="541008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uk-UA" sz="1050" b="0" strike="noStrike" spc="-1">
                <a:solidFill>
                  <a:srgbClr val="FFFFFF"/>
                </a:solidFill>
                <a:latin typeface="Tw Cen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2226FD-6825-4109-80A3-F8765102F844}" type="slidenum">
              <a:rPr lang="uk-UA" sz="1050" b="0" strike="noStrike" spc="-1">
                <a:solidFill>
                  <a:srgbClr val="FFFFFF"/>
                </a:solidFill>
                <a:latin typeface="Tw Cen MT"/>
              </a:rPr>
              <a:t>‹#›</a:t>
            </a:fld>
            <a:endParaRPr lang="ru-RU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FFFFFF"/>
                </a:solidFill>
                <a:latin typeface="Tw Cen MT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FFFFFF"/>
                </a:solidFill>
                <a:latin typeface="Tw Cen MT"/>
              </a:rPr>
              <a:t>Второй уровень структуры</a:t>
            </a:r>
          </a:p>
          <a:p>
            <a:pPr marL="1296000" lvl="2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FFFFFF"/>
                </a:solidFill>
                <a:latin typeface="Tw Cen MT"/>
              </a:rPr>
              <a:t>Третий уровень структуры</a:t>
            </a:r>
          </a:p>
          <a:p>
            <a:pPr marL="1728000" lvl="3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FFFFFF"/>
                </a:solidFill>
                <a:latin typeface="Tw Cen MT"/>
              </a:rPr>
              <a:t>Четвёртый уровень структуры</a:t>
            </a:r>
          </a:p>
          <a:p>
            <a:pPr marL="2160000" lvl="4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Tw Cen MT"/>
              </a:rPr>
              <a:t>Пятый уровень структуры</a:t>
            </a:r>
          </a:p>
          <a:p>
            <a:pPr marL="2592000" lvl="5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Tw Cen MT"/>
              </a:rPr>
              <a:t>Шестой уровень структуры</a:t>
            </a:r>
          </a:p>
          <a:p>
            <a:pPr marL="3024000" lvl="6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Tw Cen MT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2" descr="\\DROBO-FS\QuickDrops\JB\PPTX NG\Droplets\LightingOverlay.png"/>
          <p:cNvPicPr/>
          <p:nvPr/>
        </p:nvPicPr>
        <p:blipFill>
          <a:blip r:embed="rId15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39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40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41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2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3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4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5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6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7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8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9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0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1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3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4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5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6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7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8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9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0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1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2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3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4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5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6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7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68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69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0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1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2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3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4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5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6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7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8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ru-RU" sz="1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>
                <a:solidFill>
                  <a:srgbClr val="FFFFFF"/>
                </a:solidFill>
                <a:latin typeface="Tw Cen MT"/>
              </a:rPr>
              <a:t>Клацніть, щоб редагувати стиль зразка заголовка</a:t>
            </a:r>
            <a:endParaRPr lang="en-US" sz="3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lang="uk-UA" sz="2400" b="0" strike="noStrike" spc="-1">
                <a:solidFill>
                  <a:srgbClr val="FFFFFF"/>
                </a:solidFill>
                <a:latin typeface="Tw Cen MT"/>
              </a:rPr>
              <a:t>Клацніть, щоб відредагувати стилі зразків тексту</a:t>
            </a: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marL="685800" lvl="1" indent="-2286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lang="uk-UA" sz="2000" b="0" strike="noStrike" spc="-1">
                <a:solidFill>
                  <a:srgbClr val="FFFFFF"/>
                </a:solidFill>
                <a:latin typeface="Tw Cen MT"/>
              </a:rPr>
              <a:t>Другий рівень</a:t>
            </a:r>
            <a:endParaRPr lang="en-US" sz="2000" b="0" strike="noStrike" spc="-1">
              <a:solidFill>
                <a:srgbClr val="FFFFFF"/>
              </a:solidFill>
              <a:latin typeface="Tw Cen MT"/>
            </a:endParaRPr>
          </a:p>
          <a:p>
            <a:pPr marL="1143000" lvl="2" indent="-2286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lang="uk-UA" sz="1800" b="0" strike="noStrike" spc="-1">
                <a:solidFill>
                  <a:srgbClr val="FFFFFF"/>
                </a:solidFill>
                <a:latin typeface="Tw Cen MT"/>
              </a:rPr>
              <a:t>Третій рівень</a:t>
            </a:r>
            <a:endParaRPr lang="en-US" sz="1800" b="0" strike="noStrike" spc="-1">
              <a:solidFill>
                <a:srgbClr val="FFFFFF"/>
              </a:solidFill>
              <a:latin typeface="Tw Cen MT"/>
            </a:endParaRPr>
          </a:p>
          <a:p>
            <a:pPr marL="1600200" lvl="3" indent="-2286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lang="uk-UA" sz="1600" b="0" strike="noStrike" spc="-1">
                <a:solidFill>
                  <a:srgbClr val="FFFFFF"/>
                </a:solidFill>
                <a:latin typeface="Tw Cen MT"/>
              </a:rPr>
              <a:t>Четвертий рівень</a:t>
            </a:r>
            <a:endParaRPr lang="en-US" sz="1600" b="0" strike="noStrike" spc="-1">
              <a:solidFill>
                <a:srgbClr val="FFFFFF"/>
              </a:solidFill>
              <a:latin typeface="Tw Cen MT"/>
            </a:endParaRPr>
          </a:p>
          <a:p>
            <a:pPr marL="2057400" lvl="4" indent="-2286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lang="uk-UA" sz="1600" b="0" strike="noStrike" spc="-1">
                <a:solidFill>
                  <a:srgbClr val="FFFFFF"/>
                </a:solidFill>
                <a:latin typeface="Tw Cen MT"/>
              </a:rPr>
              <a:t>П’ятий рівень</a:t>
            </a:r>
            <a:endParaRPr lang="en-US" sz="1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uk-UA" sz="1050" b="0" strike="noStrike" spc="-1">
                <a:solidFill>
                  <a:srgbClr val="FFFFFF"/>
                </a:solidFill>
                <a:latin typeface="Tw Cen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uk-UA" sz="1050" b="0" strike="noStrike" spc="-1">
                <a:solidFill>
                  <a:srgbClr val="FFFFFF"/>
                </a:solidFill>
                <a:latin typeface="Tw Cen MT"/>
              </a:rPr>
              <a:t>&lt;дата/время&gt;</a:t>
            </a:r>
            <a:endParaRPr lang="ru-RU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83" name="PlaceHolder 5"/>
          <p:cNvSpPr>
            <a:spLocks noGrp="1"/>
          </p:cNvSpPr>
          <p:nvPr>
            <p:ph type="sldNum" idx="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uk-UA" sz="1050" b="0" strike="noStrike" spc="-1">
                <a:solidFill>
                  <a:srgbClr val="FFFFFF"/>
                </a:solidFill>
                <a:latin typeface="Tw Cen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49B0DF-E08F-4166-9E24-17D822F12688}" type="slidenum">
              <a:rPr lang="uk-UA" sz="1050" b="0" strike="noStrike" spc="-1">
                <a:solidFill>
                  <a:srgbClr val="FFFFFF"/>
                </a:solidFill>
                <a:latin typeface="Tw Cen MT"/>
              </a:rPr>
              <a:t>‹#›</a:t>
            </a:fld>
            <a:endParaRPr lang="ru-RU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ru-RU" sz="4800" b="0" strike="noStrike" cap="all" spc="-1">
                <a:solidFill>
                  <a:srgbClr val="FFFFFF"/>
                </a:solidFill>
                <a:latin typeface="Tw Cen MT"/>
              </a:rPr>
              <a:t>Система автоматизованого управління стрічковим транспортером</a:t>
            </a:r>
            <a:endParaRPr lang="en-US" sz="48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ubTitle"/>
          </p:nvPr>
        </p:nvSpPr>
        <p:spPr>
          <a:xfrm>
            <a:off x="1876320" y="3602160"/>
            <a:ext cx="879120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000" b="0" strike="noStrike" cap="all" spc="-1">
                <a:solidFill>
                  <a:srgbClr val="82FFFF"/>
                </a:solidFill>
                <a:latin typeface="Tw Cen MT"/>
              </a:rPr>
              <a:t> 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7967880" y="3745440"/>
            <a:ext cx="3884400" cy="28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800" b="0" strike="noStrike" spc="-1">
                <a:solidFill>
                  <a:srgbClr val="FFFFFF"/>
                </a:solidFill>
                <a:latin typeface="Tw Cen MT"/>
              </a:rPr>
              <a:t>Розробили:</a:t>
            </a:r>
            <a:r>
              <a:rPr sz="1800"/>
              <a:t/>
            </a:r>
            <a:br>
              <a:rPr sz="1800"/>
            </a:br>
            <a:r>
              <a:rPr lang="uk-UA" sz="1800" b="0" strike="noStrike" spc="-1">
                <a:solidFill>
                  <a:srgbClr val="FFFFFF"/>
                </a:solidFill>
                <a:latin typeface="Times New Roman"/>
                <a:ea typeface="Noto Serif CJK SC"/>
              </a:rPr>
              <a:t>студенти гр. АТ-212 та АТ-211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uk-UA" sz="1800" b="0" strike="noStrike" spc="-1">
                <a:solidFill>
                  <a:srgbClr val="FFFFFF"/>
                </a:solidFill>
                <a:latin typeface="Times New Roman"/>
                <a:ea typeface="Noto Serif CJK SC"/>
              </a:rPr>
              <a:t>КБ-1 «Оптимізатори»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uk-UA" sz="1800" b="0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Семенов Єгор Ю. - Керівник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uk-UA" sz="1800" b="0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Олексій Лефтер Г. - Схемотехнік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uk-UA" sz="1800" b="0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Лазаренко Ярослав І. - Конструктор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Васильковський Роман П. - Економіст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>
                <a:solidFill>
                  <a:srgbClr val="FFFFFF"/>
                </a:solidFill>
                <a:latin typeface="Tw Cen MT"/>
              </a:rPr>
              <a:t>Зміст</a:t>
            </a:r>
            <a:endParaRPr lang="en-US" sz="3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954320" cy="263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9000" lnSpcReduction="20000"/>
          </a:bodyPr>
          <a:lstStyle/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>
                <a:solidFill>
                  <a:srgbClr val="FFFFFF"/>
                </a:solidFill>
                <a:latin typeface="Tw Cen MT"/>
              </a:rPr>
              <a:t>1. Вступ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600" b="0" strike="noStrike" spc="-1">
                <a:solidFill>
                  <a:srgbClr val="FFFFFF"/>
                </a:solidFill>
                <a:latin typeface="Tw Cen MT"/>
              </a:rPr>
              <a:t>2. Потреба в автоматизації транспортування в промислових умовах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>
                <a:solidFill>
                  <a:srgbClr val="FFFFFF"/>
                </a:solidFill>
                <a:latin typeface="Tw Cen MT"/>
              </a:rPr>
              <a:t>3. Основні переваги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>
                <a:solidFill>
                  <a:srgbClr val="FFFFFF"/>
                </a:solidFill>
                <a:latin typeface="Tw Cen MT"/>
              </a:rPr>
              <a:t>4. Технологічні характеристики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>
                <a:solidFill>
                  <a:srgbClr val="FFFFFF"/>
                </a:solidFill>
                <a:latin typeface="Tw Cen MT"/>
              </a:rPr>
              <a:t>5. Модульна структура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>
                <a:solidFill>
                  <a:srgbClr val="FFFFFF"/>
                </a:solidFill>
                <a:latin typeface="Tw Cen MT"/>
              </a:rPr>
              <a:t>6. Додаткові переваги системи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600" b="0" strike="noStrike" spc="-1">
                <a:solidFill>
                  <a:srgbClr val="FFFFFF"/>
                </a:solidFill>
                <a:latin typeface="Tw Cen MT"/>
              </a:rPr>
              <a:t>7. Інтерфейс користувача</a:t>
            </a:r>
            <a:endParaRPr lang="en-US" sz="26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6024960" y="2246760"/>
            <a:ext cx="5557320" cy="22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600" b="0" strike="noStrike" spc="-1">
                <a:solidFill>
                  <a:srgbClr val="FFFFFF"/>
                </a:solidFill>
                <a:latin typeface="Tw Cen MT"/>
              </a:rPr>
              <a:t>8. Захист даних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600" b="0" strike="noStrike" spc="-1">
                <a:solidFill>
                  <a:srgbClr val="FFFFFF"/>
                </a:solidFill>
                <a:latin typeface="Tw Cen MT"/>
              </a:rPr>
              <a:t>9. Тестування і оптимізація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600" b="0" strike="noStrike" spc="-1">
                <a:solidFill>
                  <a:srgbClr val="FFFFFF"/>
                </a:solidFill>
                <a:latin typeface="Tw Cen MT"/>
              </a:rPr>
              <a:t>10. Вартість і економія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600" b="0" strike="noStrike" spc="-1">
                <a:solidFill>
                  <a:srgbClr val="FFFFFF"/>
                </a:solidFill>
                <a:latin typeface="Tw Cen MT"/>
              </a:rPr>
              <a:t>11. Наукова новизна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600" b="0" strike="noStrike" spc="-1">
                <a:solidFill>
                  <a:srgbClr val="FFFFFF"/>
                </a:solidFill>
                <a:latin typeface="Tw Cen MT"/>
              </a:rPr>
              <a:t>12. Практична значимість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600" b="0" strike="noStrike" spc="-1">
                <a:solidFill>
                  <a:srgbClr val="FFFFFF"/>
                </a:solidFill>
                <a:latin typeface="Tw Cen MT"/>
              </a:rPr>
              <a:t>13. Висновок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" y="1"/>
            <a:ext cx="12181408" cy="6858000"/>
          </a:xfrm>
          <a:prstGeom prst="rect">
            <a:avLst/>
          </a:prstGeom>
        </p:spPr>
      </p:pic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Вступ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25642" y="2003533"/>
            <a:ext cx="8975558" cy="437320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00"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spc="-1" dirty="0">
                <a:solidFill>
                  <a:schemeClr val="bg1"/>
                </a:solidFill>
                <a:latin typeface="Tw Cen MT"/>
              </a:rPr>
              <a:t>	</a:t>
            </a:r>
            <a:r>
              <a:rPr lang="uk-UA" sz="2400" b="0" strike="noStrike" spc="-1" dirty="0" smtClean="0">
                <a:solidFill>
                  <a:schemeClr val="bg1"/>
                </a:solidFill>
                <a:latin typeface="Tw Cen MT"/>
              </a:rPr>
              <a:t>Розроблена </a:t>
            </a:r>
            <a:r>
              <a:rPr lang="uk-UA" sz="2400" b="0" strike="noStrike" spc="-1" dirty="0">
                <a:solidFill>
                  <a:schemeClr val="bg1"/>
                </a:solidFill>
                <a:latin typeface="Tw Cen MT"/>
              </a:rPr>
              <a:t>система автоматизації стрічкових транспортерів </a:t>
            </a:r>
            <a:r>
              <a:rPr lang="uk-UA" sz="2400" b="0" strike="noStrike" spc="-1" dirty="0" smtClean="0">
                <a:solidFill>
                  <a:schemeClr val="bg1"/>
                </a:solidFill>
                <a:latin typeface="Tw Cen MT"/>
              </a:rPr>
              <a:t>забезпечує мінімальним </a:t>
            </a:r>
            <a:r>
              <a:rPr lang="uk-UA" sz="2400" b="0" strike="noStrike" spc="-1" dirty="0">
                <a:solidFill>
                  <a:schemeClr val="bg1"/>
                </a:solidFill>
                <a:latin typeface="Tw Cen MT"/>
              </a:rPr>
              <a:t>ефективне та безпечне транспортування матеріалів з </a:t>
            </a:r>
            <a:r>
              <a:rPr lang="uk-UA" sz="2400" b="0" strike="noStrike" spc="-1" dirty="0" smtClean="0">
                <a:solidFill>
                  <a:schemeClr val="bg1"/>
                </a:solidFill>
                <a:latin typeface="Tw Cen MT"/>
              </a:rPr>
              <a:t>втручанням </a:t>
            </a:r>
            <a:r>
              <a:rPr lang="uk-UA" sz="2400" b="0" strike="noStrike" spc="-1" dirty="0">
                <a:solidFill>
                  <a:schemeClr val="bg1"/>
                </a:solidFill>
                <a:latin typeface="Tw Cen MT"/>
              </a:rPr>
              <a:t>людини. Система дозволяє оптимізувати процеси транспортування, підвищити продуктивність та знизити витрати на експлуатацію. Впровадження автоматизованої системи дозволяє зменшити ризики, пов'язані з людським фактором, покращити безпеку і забезпечити стабільну роботу в різних умовах промислового виробництва.</a:t>
            </a:r>
            <a:endParaRPr lang="en-US" sz="2400" b="0" strike="noStrike" spc="-1" dirty="0">
              <a:solidFill>
                <a:schemeClr val="bg1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ru-RU" sz="3600" b="0" strike="noStrike" cap="all" spc="-1">
                <a:solidFill>
                  <a:srgbClr val="FFFFFF"/>
                </a:solidFill>
                <a:latin typeface="Tw Cen MT"/>
              </a:rPr>
              <a:t>Потреба в автоматизації транспортування в промислових умовах</a:t>
            </a:r>
            <a:endParaRPr lang="en-US" sz="3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00" lnSpcReduction="20000"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0" strike="noStrike" spc="-1">
                <a:solidFill>
                  <a:srgbClr val="FFFFFF"/>
                </a:solidFill>
                <a:latin typeface="Tw Cen MT"/>
              </a:rPr>
              <a:t>У багатьох промислових сферах використання стрічкових транспортерів є необхідністю для ефективного переміщення матеріалів між різними виробничими ділянками. Традиційне ручне управління транспортером має низку недоліків, таких як високий ризик аварій, підвищена людська втома та помилки, а також низька ефективність в порівнянні з автоматизованими системами. Це створює потребу в автоматизованих рішеннях для транспортування, які забезпечать більш високу продуктивність, точність і безпеку. Автоматизоване управління дозволяє знижувати залежність від людського фактора, підвищуючи надійність і стабільність процесів транспортування.</a:t>
            </a: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719076" y="185344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r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Основні переваги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3152272" y="1663503"/>
            <a:ext cx="8472563" cy="471323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000" b="1" strike="noStrike" spc="-1" dirty="0" smtClean="0">
                <a:solidFill>
                  <a:srgbClr val="0070C0"/>
                </a:solidFill>
                <a:latin typeface="Tw Cen MT"/>
              </a:rPr>
              <a:t>	</a:t>
            </a:r>
            <a:r>
              <a:rPr lang="uk-UA" sz="2000" b="1" strike="noStrike" spc="-1" dirty="0" smtClean="0">
                <a:latin typeface="Tw Cen MT"/>
              </a:rPr>
              <a:t>Безпека</a:t>
            </a:r>
            <a:r>
              <a:rPr lang="uk-UA" sz="2000" b="1" strike="noStrike" spc="-1" dirty="0">
                <a:latin typeface="Tw Cen MT"/>
              </a:rPr>
              <a:t>:</a:t>
            </a:r>
            <a:r>
              <a:rPr lang="uk-UA" sz="2000" b="0" strike="noStrike" spc="-1" dirty="0">
                <a:solidFill>
                  <a:srgbClr val="0070C0"/>
                </a:solidFill>
                <a:latin typeface="Tw Cen MT"/>
              </a:rPr>
              <a:t> Завдяки автоматизованому контролю та точним датчикам зменшується ймовірність помилок, пов'язаних із людським фактором, що забезпечує високий рівень безпеки при виконанні операцій.</a:t>
            </a:r>
            <a:r>
              <a:rPr sz="2000" dirty="0">
                <a:solidFill>
                  <a:srgbClr val="0070C0"/>
                </a:solidFill>
              </a:rPr>
              <a:t/>
            </a:r>
            <a:br>
              <a:rPr sz="2000" dirty="0">
                <a:solidFill>
                  <a:srgbClr val="0070C0"/>
                </a:solidFill>
              </a:rPr>
            </a:br>
            <a:r>
              <a:rPr lang="uk-UA" sz="2000" dirty="0" smtClean="0">
                <a:solidFill>
                  <a:srgbClr val="0070C0"/>
                </a:solidFill>
              </a:rPr>
              <a:t>	</a:t>
            </a:r>
            <a:r>
              <a:rPr lang="uk-UA" sz="2000" b="1" strike="noStrike" spc="-1" dirty="0" smtClean="0">
                <a:latin typeface="Tw Cen MT"/>
              </a:rPr>
              <a:t>Продуктивність</a:t>
            </a:r>
            <a:r>
              <a:rPr lang="uk-UA" sz="2000" b="1" strike="noStrike" spc="-1" dirty="0">
                <a:latin typeface="Tw Cen MT"/>
              </a:rPr>
              <a:t>:</a:t>
            </a:r>
            <a:r>
              <a:rPr lang="uk-UA" sz="2000" b="0" strike="noStrike" spc="-1" dirty="0">
                <a:latin typeface="Tw Cen MT"/>
              </a:rPr>
              <a:t> </a:t>
            </a:r>
            <a:r>
              <a:rPr lang="uk-UA" sz="2000" b="0" strike="noStrike" spc="-1" dirty="0">
                <a:solidFill>
                  <a:srgbClr val="0070C0"/>
                </a:solidFill>
                <a:latin typeface="Tw Cen MT"/>
              </a:rPr>
              <a:t>Система оптимізована для роботи з великими обсягами даних, дозволяючи досягати високої швидкості обробки та ефективно управляти процесами без затримок.</a:t>
            </a:r>
            <a:r>
              <a:rPr sz="2000" dirty="0">
                <a:solidFill>
                  <a:srgbClr val="0070C0"/>
                </a:solidFill>
              </a:rPr>
              <a:t/>
            </a:r>
            <a:br>
              <a:rPr sz="2000" dirty="0">
                <a:solidFill>
                  <a:srgbClr val="0070C0"/>
                </a:solidFill>
              </a:rPr>
            </a:br>
            <a:r>
              <a:rPr lang="uk-UA" sz="2000" dirty="0" smtClean="0">
                <a:solidFill>
                  <a:srgbClr val="0070C0"/>
                </a:solidFill>
              </a:rPr>
              <a:t>	</a:t>
            </a:r>
            <a:r>
              <a:rPr lang="uk-UA" sz="2000" b="1" strike="noStrike" spc="-1" dirty="0" smtClean="0">
                <a:latin typeface="Tw Cen MT"/>
              </a:rPr>
              <a:t>Економія</a:t>
            </a:r>
            <a:r>
              <a:rPr lang="uk-UA" sz="2000" b="1" strike="noStrike" spc="-1" dirty="0">
                <a:latin typeface="Tw Cen MT"/>
              </a:rPr>
              <a:t>:</a:t>
            </a:r>
            <a:r>
              <a:rPr lang="uk-UA" sz="2000" b="0" strike="noStrike" spc="-1" dirty="0">
                <a:solidFill>
                  <a:srgbClr val="0070C0"/>
                </a:solidFill>
                <a:latin typeface="Tw Cen MT"/>
              </a:rPr>
              <a:t> Використання автоматизації сприяє зниженню витрат на експлуатацію та обслуговування, а також підвищує загальну ефективність процесів.</a:t>
            </a:r>
            <a:endParaRPr lang="en-US" sz="2000" b="0" strike="noStrike" spc="-1" dirty="0">
              <a:solidFill>
                <a:srgbClr val="0070C0"/>
              </a:solidFill>
              <a:latin typeface="Tw Cen MT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422"/>
            <a:ext cx="12192000" cy="6899422"/>
          </a:xfrm>
          <a:prstGeom prst="rect">
            <a:avLst/>
          </a:prstGeom>
        </p:spPr>
      </p:pic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Технологічні характеристики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59914" y="1900989"/>
            <a:ext cx="11069052" cy="45238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1" strike="noStrike" spc="-1" dirty="0" smtClean="0">
                <a:solidFill>
                  <a:srgbClr val="002060"/>
                </a:solidFill>
                <a:latin typeface="Tw Cen MT"/>
              </a:rPr>
              <a:t>	Мікроконтролер </a:t>
            </a:r>
            <a:r>
              <a:rPr lang="en-US" sz="2400" b="1" strike="noStrike" spc="-1" dirty="0">
                <a:solidFill>
                  <a:srgbClr val="002060"/>
                </a:solidFill>
                <a:latin typeface="Tw Cen MT"/>
              </a:rPr>
              <a:t>ATmega8:</a:t>
            </a:r>
            <a:r>
              <a:rPr lang="en-US" sz="2400" b="0" strike="noStrike" spc="-1" dirty="0">
                <a:solidFill>
                  <a:srgbClr val="002060"/>
                </a:solidFill>
                <a:latin typeface="Tw Cen MT"/>
              </a:rPr>
              <a:t> </a:t>
            </a:r>
            <a:r>
              <a:rPr lang="uk-UA" sz="2400" b="0" strike="noStrike" spc="-1" dirty="0">
                <a:solidFill>
                  <a:srgbClr val="002060"/>
                </a:solidFill>
                <a:latin typeface="Tw Cen MT"/>
              </a:rPr>
              <a:t>Цей мікроконтролер характеризується високою надійністю, енергоефективністю та можливістю обробляти значні обсяги даних, що робить його ідеальним для промислових застосувань.</a:t>
            </a:r>
            <a:r>
              <a:rPr sz="2400" dirty="0">
                <a:solidFill>
                  <a:srgbClr val="002060"/>
                </a:solidFill>
              </a:rPr>
              <a:t/>
            </a:r>
            <a:br>
              <a:rPr sz="2400" dirty="0">
                <a:solidFill>
                  <a:srgbClr val="002060"/>
                </a:solidFill>
              </a:rPr>
            </a:br>
            <a:r>
              <a:rPr lang="uk-UA" sz="2400" dirty="0" smtClean="0">
                <a:solidFill>
                  <a:srgbClr val="002060"/>
                </a:solidFill>
              </a:rPr>
              <a:t>	</a:t>
            </a:r>
            <a:r>
              <a:rPr lang="uk-UA" sz="2400" b="1" strike="noStrike" spc="-1" dirty="0" smtClean="0">
                <a:solidFill>
                  <a:srgbClr val="002060"/>
                </a:solidFill>
                <a:latin typeface="Tw Cen MT"/>
              </a:rPr>
              <a:t>Інтерфейси</a:t>
            </a:r>
            <a:r>
              <a:rPr lang="uk-UA" sz="2400" b="1" strike="noStrike" spc="-1" dirty="0">
                <a:solidFill>
                  <a:srgbClr val="002060"/>
                </a:solidFill>
                <a:latin typeface="Tw Cen MT"/>
              </a:rPr>
              <a:t>:</a:t>
            </a:r>
            <a:r>
              <a:rPr lang="uk-UA" sz="2400" b="0" strike="noStrike" spc="-1" dirty="0">
                <a:solidFill>
                  <a:srgbClr val="002060"/>
                </a:solidFill>
                <a:latin typeface="Tw Cen MT"/>
              </a:rPr>
              <a:t> Модуль підтримує </a:t>
            </a:r>
            <a:r>
              <a:rPr lang="en-US" sz="2400" b="0" strike="noStrike" spc="-1" dirty="0">
                <a:solidFill>
                  <a:srgbClr val="002060"/>
                </a:solidFill>
                <a:latin typeface="Tw Cen MT"/>
              </a:rPr>
              <a:t>UART, SPI, I2C </a:t>
            </a:r>
            <a:r>
              <a:rPr lang="uk-UA" sz="2400" b="0" strike="noStrike" spc="-1" dirty="0">
                <a:solidFill>
                  <a:srgbClr val="002060"/>
                </a:solidFill>
                <a:latin typeface="Tw Cen MT"/>
              </a:rPr>
              <a:t>інтерфейси, що забезпечує легкість інтеграції з іншими системами та можливість швидкого налаштування.</a:t>
            </a:r>
            <a:r>
              <a:rPr sz="2400" dirty="0">
                <a:solidFill>
                  <a:srgbClr val="002060"/>
                </a:solidFill>
              </a:rPr>
              <a:t/>
            </a:r>
            <a:br>
              <a:rPr sz="2400" dirty="0">
                <a:solidFill>
                  <a:srgbClr val="002060"/>
                </a:solidFill>
              </a:rPr>
            </a:br>
            <a:r>
              <a:rPr lang="uk-UA" sz="2400" dirty="0" smtClean="0">
                <a:solidFill>
                  <a:srgbClr val="002060"/>
                </a:solidFill>
              </a:rPr>
              <a:t>	</a:t>
            </a:r>
            <a:r>
              <a:rPr lang="uk-UA" sz="2400" b="1" strike="noStrike" spc="-1" dirty="0" smtClean="0">
                <a:solidFill>
                  <a:srgbClr val="002060"/>
                </a:solidFill>
                <a:latin typeface="Tw Cen MT"/>
              </a:rPr>
              <a:t>Датчики</a:t>
            </a:r>
            <a:r>
              <a:rPr lang="uk-UA" sz="2400" b="1" strike="noStrike" spc="-1" dirty="0">
                <a:solidFill>
                  <a:srgbClr val="002060"/>
                </a:solidFill>
                <a:latin typeface="Tw Cen MT"/>
              </a:rPr>
              <a:t>:</a:t>
            </a:r>
            <a:r>
              <a:rPr lang="uk-UA" sz="2400" b="0" strike="noStrike" spc="-1" dirty="0">
                <a:solidFill>
                  <a:srgbClr val="002060"/>
                </a:solidFill>
                <a:latin typeface="Tw Cen MT"/>
              </a:rPr>
              <a:t> Система оснащена датчиками температури та швидкості для точного моніторингу стану, що дає змогу своєчасно реагувати на зміни та оптимізувати роботу.</a:t>
            </a:r>
            <a:endParaRPr lang="en-US" sz="2400" b="0" strike="noStrike" spc="-1" dirty="0">
              <a:solidFill>
                <a:srgbClr val="002060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"/>
            <a:ext cx="12192000" cy="6856261"/>
          </a:xfrm>
          <a:prstGeom prst="rect">
            <a:avLst/>
          </a:prstGeom>
        </p:spPr>
      </p:pic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Модульна структура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794084" y="1900989"/>
            <a:ext cx="10253236" cy="430730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00" lnSpcReduction="10000"/>
          </a:bodyPr>
          <a:lstStyle/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Система складається з кількох ключових модулів, що забезпечують її стабільну і ефективну </a:t>
            </a:r>
            <a:r>
              <a:rPr lang="uk-UA" sz="2400" b="0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роботу:</a:t>
            </a: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	</a:t>
            </a:r>
            <a:r>
              <a:rPr lang="uk-UA" sz="2400" b="1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Живлення</a:t>
            </a:r>
            <a:r>
              <a:rPr lang="uk-UA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:</a:t>
            </a:r>
            <a:r>
              <a:rPr lang="uk-UA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Модуль, який відповідає за стабільне постачання енергії всім компонентам системи, що забезпечує її безперебійну </a:t>
            </a:r>
            <a:r>
              <a:rPr lang="uk-UA" sz="2400" b="0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роботу.</a:t>
            </a:r>
            <a:endParaRPr lang="uk-UA" sz="2400" spc="-1" dirty="0">
              <a:solidFill>
                <a:schemeClr val="accent5">
                  <a:lumMod val="50000"/>
                </a:schemeClr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	</a:t>
            </a:r>
            <a:r>
              <a:rPr lang="ru-RU" sz="2400" b="1" strike="noStrike" spc="-1" dirty="0" err="1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Управління</a:t>
            </a:r>
            <a:r>
              <a:rPr lang="ru-RU" sz="2400" b="1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1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двигуном</a:t>
            </a:r>
            <a:r>
              <a:rPr lang="ru-RU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: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Модуль для точного контролю та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регулювання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роботи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двигунів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,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що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дозволяє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досягти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бажаних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параметрів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роботи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системи</a:t>
            </a:r>
            <a:r>
              <a:rPr lang="ru-RU" sz="2400" b="0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.</a:t>
            </a:r>
            <a:r>
              <a:rPr lang="uk-UA" sz="2400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endParaRPr lang="uk-UA" sz="2400" spc="-1" dirty="0" smtClean="0">
              <a:solidFill>
                <a:schemeClr val="accent5">
                  <a:lumMod val="50000"/>
                </a:schemeClr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	</a:t>
            </a:r>
            <a:r>
              <a:rPr lang="ru-RU" sz="2400" b="1" strike="noStrike" spc="-1" dirty="0" err="1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Сенсори</a:t>
            </a:r>
            <a:r>
              <a:rPr lang="ru-RU" sz="2400" b="1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та </a:t>
            </a:r>
            <a:r>
              <a:rPr lang="ru-RU" sz="2400" b="1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інтерфейс</a:t>
            </a:r>
            <a:r>
              <a:rPr lang="ru-RU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1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користувача</a:t>
            </a:r>
            <a:r>
              <a:rPr lang="ru-RU" sz="24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: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Використовуються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для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збору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даних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про стан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системи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та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зворотного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зв'язку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з оператором,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що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дозволяє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швидко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реагувати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на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зміни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та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ефективно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керувати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</a:t>
            </a:r>
            <a:r>
              <a:rPr lang="ru-RU" sz="2400" b="0" strike="noStrike" spc="-1" dirty="0" err="1">
                <a:solidFill>
                  <a:schemeClr val="accent5">
                    <a:lumMod val="50000"/>
                  </a:schemeClr>
                </a:solidFill>
                <a:latin typeface="Tw Cen MT"/>
              </a:rPr>
              <a:t>процесами</a:t>
            </a:r>
            <a:r>
              <a:rPr lang="ru-RU" sz="24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.</a:t>
            </a:r>
            <a:endParaRPr lang="en-US" sz="2400" b="0" strike="noStrike" spc="-1" dirty="0">
              <a:solidFill>
                <a:schemeClr val="accent5">
                  <a:lumMod val="50000"/>
                </a:schemeClr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530" cy="6858000"/>
          </a:xfrm>
          <a:prstGeom prst="rect">
            <a:avLst/>
          </a:prstGeom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Додаткові Переваги системи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25642" y="1756611"/>
            <a:ext cx="11020926" cy="403434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500" b="1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	Гнучкість</a:t>
            </a:r>
            <a:r>
              <a:rPr lang="uk-UA" sz="25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:</a:t>
            </a:r>
            <a:r>
              <a:rPr lang="uk-UA" sz="25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Система може бути адаптована до специфічних потреб різних видів виробництва, що дозволяє максимально ефективно використовувати її на різних етапах технологічного процесу.</a:t>
            </a:r>
            <a:r>
              <a:rPr sz="2500" dirty="0">
                <a:solidFill>
                  <a:schemeClr val="accent5">
                    <a:lumMod val="50000"/>
                  </a:schemeClr>
                </a:solidFill>
              </a:rPr>
              <a:t/>
            </a:r>
            <a:br>
              <a:rPr sz="25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uk-UA" sz="2500" dirty="0" smtClean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uk-UA" sz="2500" b="1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Простота</a:t>
            </a:r>
            <a:r>
              <a:rPr lang="uk-UA" sz="25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:</a:t>
            </a:r>
            <a:r>
              <a:rPr lang="uk-UA" sz="25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Завдяки зручному дизайну та можливості легкого оновлення та модифікації, система дозволяє швидко вносити зміни без значних витрат часу і ресурсів.</a:t>
            </a:r>
            <a:r>
              <a:rPr sz="2500" dirty="0">
                <a:solidFill>
                  <a:schemeClr val="accent5">
                    <a:lumMod val="50000"/>
                  </a:schemeClr>
                </a:solidFill>
              </a:rPr>
              <a:t/>
            </a:r>
            <a:br>
              <a:rPr sz="25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uk-UA" sz="2500" dirty="0" smtClean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uk-UA" sz="2500" b="1" strike="noStrike" spc="-1" dirty="0" smtClean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Надійність</a:t>
            </a:r>
            <a:r>
              <a:rPr lang="uk-UA" sz="2500" b="1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:</a:t>
            </a:r>
            <a:r>
              <a:rPr lang="uk-UA" sz="25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 Висока надійність системи підтверджується значенням </a:t>
            </a:r>
            <a:r>
              <a:rPr lang="en-US" sz="25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MTBF (</a:t>
            </a:r>
            <a:r>
              <a:rPr lang="uk-UA" sz="2500" b="0" strike="noStrike" spc="-1" dirty="0">
                <a:solidFill>
                  <a:schemeClr val="accent5">
                    <a:lumMod val="50000"/>
                  </a:schemeClr>
                </a:solidFill>
                <a:latin typeface="Tw Cen MT"/>
              </a:rPr>
              <a:t>середній час між відмовами), а також регулярними тестуваннями, які гарантують стабільну роботу в умовах змінних навантажень.</a:t>
            </a:r>
            <a:endParaRPr lang="en-US" sz="2500" b="0" strike="noStrike" spc="-1" dirty="0">
              <a:solidFill>
                <a:schemeClr val="accent5">
                  <a:lumMod val="50000"/>
                </a:schemeClr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141560" y="44352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r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Інтерфейс користувача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500" b="0" strike="noStrike" spc="-1" dirty="0" smtClean="0">
                <a:solidFill>
                  <a:srgbClr val="0070C0"/>
                </a:solidFill>
                <a:latin typeface="Tw Cen MT"/>
              </a:rPr>
              <a:t>	Інтерфейс </a:t>
            </a:r>
            <a:r>
              <a:rPr lang="uk-UA" sz="2500" b="0" strike="noStrike" spc="-1" dirty="0">
                <a:solidFill>
                  <a:srgbClr val="0070C0"/>
                </a:solidFill>
                <a:latin typeface="Tw Cen MT"/>
              </a:rPr>
              <a:t>користувача розроблений таким чином, щоб бути інтуїтивно зрозумілим і зручним. Оператор може легко налаштовувати параметри роботи транспортеру, а також здійснювати моніторинг стану системи, що забезпечує простоту в управлінні та контролі за роботою обладнання.</a:t>
            </a:r>
            <a:endParaRPr lang="en-US" sz="2500" b="0" strike="noStrike" spc="-1" dirty="0">
              <a:solidFill>
                <a:srgbClr val="0070C0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>
                <a:solidFill>
                  <a:srgbClr val="FFFFFF"/>
                </a:solidFill>
                <a:latin typeface="Tw Cen MT"/>
              </a:rPr>
              <a:t>Захист даних</a:t>
            </a:r>
            <a:endParaRPr lang="en-US" sz="3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876865" y="2661679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 dirty="0" smtClean="0">
                <a:solidFill>
                  <a:srgbClr val="FFFFFF"/>
                </a:solidFill>
                <a:latin typeface="Tw Cen MT"/>
              </a:rPr>
              <a:t>	Для </a:t>
            </a:r>
            <a:r>
              <a:rPr lang="uk-UA" sz="2600" b="0" strike="noStrike" spc="-1" dirty="0">
                <a:solidFill>
                  <a:srgbClr val="FFFFFF"/>
                </a:solidFill>
                <a:latin typeface="Tw Cen MT"/>
              </a:rPr>
              <a:t>забезпечення безпеки інформації система використовує механізми захисту від несанкціонованого доступу, що гарантують цілісність і конфіденційність даних. Це особливо важливо для промислових підприємств, де захист інформації є критичним аспектом.</a:t>
            </a:r>
            <a:endParaRPr lang="en-US" sz="2600" b="0" strike="noStrike" spc="-1" dirty="0">
              <a:solidFill>
                <a:srgbClr val="FFFFFF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>
                <a:solidFill>
                  <a:srgbClr val="FFFFFF"/>
                </a:solidFill>
                <a:latin typeface="Tw Cen MT"/>
              </a:rPr>
              <a:t>Тестування і оптимізація</a:t>
            </a:r>
            <a:endParaRPr lang="en-US" sz="3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1141560" y="2382252"/>
            <a:ext cx="9905760" cy="38019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600" b="0" strike="noStrike" spc="-1" dirty="0" smtClean="0">
                <a:solidFill>
                  <a:srgbClr val="FFFFFF"/>
                </a:solidFill>
                <a:latin typeface="Tw Cen MT"/>
              </a:rPr>
              <a:t>	</a:t>
            </a:r>
            <a:r>
              <a:rPr lang="ru-RU" sz="2600" b="0" strike="noStrike" spc="-1" dirty="0" err="1" smtClean="0">
                <a:solidFill>
                  <a:srgbClr val="FFFFFF"/>
                </a:solidFill>
                <a:latin typeface="Tw Cen MT"/>
              </a:rPr>
              <a:t>Результати</a:t>
            </a:r>
            <a:r>
              <a:rPr lang="ru-RU" sz="2600" b="0" strike="noStrike" spc="-1" dirty="0" smtClean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проведених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тестів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показали,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що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система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працює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з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високою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надійністю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,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навіть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в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умовах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змінних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навантажень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та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тривалої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роботи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.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Продуктивність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системи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була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оптимізована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для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забезпечення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максимальної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ефективності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при </a:t>
            </a:r>
            <a:r>
              <a:rPr lang="ru-RU" sz="2600" b="0" strike="noStrike" spc="-1" dirty="0" err="1">
                <a:solidFill>
                  <a:srgbClr val="FFFFFF"/>
                </a:solidFill>
                <a:latin typeface="Tw Cen MT"/>
              </a:rPr>
              <a:t>мінімальних</a:t>
            </a:r>
            <a:r>
              <a:rPr lang="ru-RU" sz="2600" b="0" strike="noStrike" spc="-1" dirty="0">
                <a:solidFill>
                  <a:srgbClr val="FFFFFF"/>
                </a:solidFill>
                <a:latin typeface="Tw Cen MT"/>
              </a:rPr>
              <a:t> ресурсах.</a:t>
            </a:r>
            <a:endParaRPr lang="en-US" sz="2600" b="0" strike="noStrike" spc="-1" dirty="0">
              <a:solidFill>
                <a:srgbClr val="FFFFFF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Вартість і економія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 dirty="0" smtClean="0">
                <a:solidFill>
                  <a:schemeClr val="accent5">
                    <a:lumMod val="75000"/>
                  </a:schemeClr>
                </a:solidFill>
                <a:latin typeface="Tw Cen MT"/>
              </a:rPr>
              <a:t>	Завдяки </a:t>
            </a:r>
            <a:r>
              <a:rPr lang="uk-UA" sz="2600" b="0" strike="noStrike" spc="-1" dirty="0">
                <a:solidFill>
                  <a:schemeClr val="accent5">
                    <a:lumMod val="75000"/>
                  </a:schemeClr>
                </a:solidFill>
                <a:latin typeface="Tw Cen MT"/>
              </a:rPr>
              <a:t>оптимізації конструкції та використанню сучасних технологій, система має високу ефективність при мінімальних витратах на її впровадження та обслуговування. Це робить її економічно вигідною для підприємств, які шукають рішення для автоматизації.</a:t>
            </a:r>
            <a:endParaRPr lang="en-US" sz="2600" b="0" strike="noStrike" spc="-1" dirty="0">
              <a:solidFill>
                <a:schemeClr val="accent5">
                  <a:lumMod val="75000"/>
                </a:schemeClr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0"/>
            <a:ext cx="12192000" cy="6856260"/>
          </a:xfrm>
          <a:prstGeom prst="rect">
            <a:avLst/>
          </a:prstGeom>
        </p:spPr>
      </p:pic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solidFill>
              <a:schemeClr val="bg2">
                <a:lumMod val="50000"/>
              </a:schemeClr>
            </a:solidFill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Наукова новизна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700" b="0" strike="noStrike" spc="-1" dirty="0" smtClean="0">
                <a:solidFill>
                  <a:srgbClr val="002060"/>
                </a:solidFill>
                <a:latin typeface="Times New Roman"/>
                <a:ea typeface="Noto Serif CJK SC"/>
              </a:rPr>
              <a:t>	Наукова </a:t>
            </a:r>
            <a:r>
              <a:rPr lang="uk-UA" sz="2700" b="0" strike="noStrike" spc="-1" dirty="0">
                <a:solidFill>
                  <a:srgbClr val="002060"/>
                </a:solidFill>
                <a:latin typeface="Times New Roman"/>
                <a:ea typeface="Noto Serif CJK SC"/>
              </a:rPr>
              <a:t>новизна розробленої системи полягає в її комплексному підході. Система охоплює всі аспекти управління транспортером, включаючи датчики, виконавчі механізми, алгоритми керування та програмне забезпечення. Вона побудована на основі сучасних технологій, що забезпечує високу надійність і ефективність.</a:t>
            </a:r>
            <a:endParaRPr lang="en-US" sz="2700" b="0" strike="noStrike" spc="-1" dirty="0">
              <a:solidFill>
                <a:srgbClr val="002060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700" b="0" strike="noStrike" spc="-1" dirty="0">
              <a:solidFill>
                <a:srgbClr val="FFFFFF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2133600" y="280020"/>
            <a:ext cx="9585158" cy="1478160"/>
          </a:xfrm>
          <a:prstGeom prst="rect">
            <a:avLst/>
          </a:prstGeom>
          <a:noFill/>
          <a:ln w="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>
            <a:noAutofit/>
          </a:bodyPr>
          <a:lstStyle/>
          <a:p>
            <a:pPr indent="0" algn="r">
              <a:lnSpc>
                <a:spcPct val="90000"/>
              </a:lnSpc>
              <a:buNone/>
            </a:pPr>
            <a:r>
              <a:rPr lang="uk-UA" sz="3600" b="0" strike="noStrike" cap="all" spc="-1" dirty="0">
                <a:solidFill>
                  <a:srgbClr val="0070C0"/>
                </a:solidFill>
                <a:latin typeface="Tw Cen MT"/>
              </a:rPr>
              <a:t>Практична </a:t>
            </a:r>
            <a:r>
              <a:rPr lang="uk-UA" sz="3600" b="0" strike="noStrike" cap="all" spc="-1" dirty="0" smtClean="0">
                <a:solidFill>
                  <a:srgbClr val="0070C0"/>
                </a:solidFill>
                <a:latin typeface="Tw Cen MT"/>
              </a:rPr>
              <a:t>значимість</a:t>
            </a:r>
            <a:endParaRPr lang="en-US" sz="3600" b="0" strike="noStrike" spc="-1" dirty="0">
              <a:solidFill>
                <a:srgbClr val="0070C0"/>
              </a:solidFill>
              <a:latin typeface="Tw Cen MT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1780674" y="1758180"/>
            <a:ext cx="9938084" cy="40327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600" b="0" strike="noStrike" spc="-1" dirty="0" smtClean="0">
                <a:solidFill>
                  <a:srgbClr val="0070C0"/>
                </a:solidFill>
                <a:latin typeface="Tw Cen MT"/>
              </a:rPr>
              <a:t>	Практична </a:t>
            </a:r>
            <a:r>
              <a:rPr lang="uk-UA" sz="2600" b="0" strike="noStrike" spc="-1" dirty="0">
                <a:solidFill>
                  <a:srgbClr val="0070C0"/>
                </a:solidFill>
                <a:latin typeface="Tw Cen MT"/>
              </a:rPr>
              <a:t>значимість розробленої автоматизованої системи управління полягає у можливості її широкого застосування в різних галузях промисловості, де використовуються стрічкові транспортери. Впроваджені механізми захисту даних забезпечують надійну безпеку від несанкціонованого доступу, що є важливим аспектом для збереження конфіденційності та цілісності інформації. На основі аналізу результатів тестування були реалізовані оптимізації, які підвищили загальну продуктивність системи та зменшили споживання ресурсів.</a:t>
            </a:r>
            <a:endParaRPr lang="en-US" sz="2600" b="0" strike="noStrike" spc="-1" dirty="0">
              <a:solidFill>
                <a:srgbClr val="0070C0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2192000" cy="7010400"/>
          </a:xfrm>
          <a:prstGeom prst="rect">
            <a:avLst/>
          </a:prstGeom>
        </p:spPr>
      </p:pic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uk-UA" sz="3600" b="0" strike="noStrike" cap="all" spc="-1">
                <a:solidFill>
                  <a:srgbClr val="FFFFFF"/>
                </a:solidFill>
                <a:latin typeface="Tw Cen MT"/>
              </a:rPr>
              <a:t>	Висновок</a:t>
            </a:r>
            <a:endParaRPr lang="en-US" sz="3600" b="0" strike="noStrike" spc="-1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 lnSpcReduction="10000"/>
          </a:bodyPr>
          <a:lstStyle/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0" strike="noStrike" spc="-1">
                <a:solidFill>
                  <a:srgbClr val="FFFFFF"/>
                </a:solidFill>
                <a:latin typeface="Tw Cen MT"/>
              </a:rPr>
              <a:t>	Інноваційна система автоматичного керування стрічковим транспортером забезпечує високу продуктивність, безпеку та економічність. Вона стане ефективним інструментом для вашого бізнесу, допомагаючи знизити витрати та підвищити ефективність виробництва. </a:t>
            </a: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 algn="just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uk-UA" sz="2400" b="0" strike="noStrike" spc="-1">
                <a:solidFill>
                  <a:srgbClr val="FFFFFF"/>
                </a:solidFill>
                <a:latin typeface="Tw Cen MT"/>
              </a:rPr>
              <a:t>	В кінцевому підсумку, розроблена система автоматичного керування стрічковим транспортером відповідає всім поставленим вимогам і має значну практичну цінність. Її впровадження здатне значно підвищити ефективність роботи транспортерів, знизити експлуатаційні витрати та підвищити безпеку роботи.</a:t>
            </a: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  <a:p>
            <a:pPr indent="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FFFFFF"/>
              </a:solidFill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хема">
  <a:themeElements>
    <a:clrScheme name="Схема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хема">
  <a:themeElements>
    <a:clrScheme name="Схема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TM04033919[[fn=Схема]]</Template>
  <TotalTime>119</TotalTime>
  <Words>196</Words>
  <Application>Microsoft Office PowerPoint</Application>
  <PresentationFormat>Широкоэкранный</PresentationFormat>
  <Paragraphs>58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DejaVu Sans</vt:lpstr>
      <vt:lpstr>Noto Serif CJK SC</vt:lpstr>
      <vt:lpstr>Symbol</vt:lpstr>
      <vt:lpstr>Times New Roman</vt:lpstr>
      <vt:lpstr>Tw Cen MT</vt:lpstr>
      <vt:lpstr>Wingdings</vt:lpstr>
      <vt:lpstr>Схема</vt:lpstr>
      <vt:lpstr>Схема</vt:lpstr>
      <vt:lpstr>Система автоматизованого управління стрічковим транспортером</vt:lpstr>
      <vt:lpstr>Зміст</vt:lpstr>
      <vt:lpstr>Вступ</vt:lpstr>
      <vt:lpstr>Потреба в автоматизації транспортування в промислових умовах</vt:lpstr>
      <vt:lpstr>Основні переваги</vt:lpstr>
      <vt:lpstr>Технологічні характеристики</vt:lpstr>
      <vt:lpstr>Модульна структура</vt:lpstr>
      <vt:lpstr>Додаткові Переваги системи</vt:lpstr>
      <vt:lpstr>Інтерфейс користувача</vt:lpstr>
      <vt:lpstr>Захист даних</vt:lpstr>
      <vt:lpstr>Тестування і оптимізація</vt:lpstr>
      <vt:lpstr>Вартість і економія</vt:lpstr>
      <vt:lpstr>Наукова новизна</vt:lpstr>
      <vt:lpstr>Практична значимість</vt:lpstr>
      <vt:lpstr> Висновок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автоматизованого управління стрічковим транспортером</dc:title>
  <dc:subject/>
  <dc:creator>User</dc:creator>
  <dc:description/>
  <cp:lastModifiedBy>Николай .</cp:lastModifiedBy>
  <cp:revision>15</cp:revision>
  <dcterms:created xsi:type="dcterms:W3CDTF">2024-12-02T14:43:51Z</dcterms:created>
  <dcterms:modified xsi:type="dcterms:W3CDTF">2024-12-07T17:44:17Z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i4>15</vt:i4>
  </property>
</Properties>
</file>